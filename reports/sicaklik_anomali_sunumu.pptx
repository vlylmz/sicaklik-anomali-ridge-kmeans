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646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 Bazlı Aylık Sıcaklık Anomalisi Tahmini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</a:t>
            </a:r>
            <a:r>
              <a:rPr lang="en-US" sz="2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</a:t>
            </a: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KMeans </a:t>
            </a:r>
            <a:r>
              <a:rPr lang="en-US" sz="2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</a:t>
            </a: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078992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 Yılmaz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6984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Aylık sıcaklıklarda en baskın bileşen mevsimsellik → doğrudan sıcaklık tahmini çoğunlukla “takvim etkisi” öğrenir.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 yüzden önce “beklenen değer” (klimatoloji) çıkarılarak hedef değişken anomaliye dönüştürüldü.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Amaç: şehir bazında aylık sıcaklık anomalilerini makine öğrenmesiyle tahmin etmek.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 hedef: belirli bir ayda şehirleri sıcaklık + konuma göre kümelere ayırarak mekânsal örüntüleri görmek.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ve Ön İşleme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6984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 birimi: (City, Country, Year, Month) düzeyinde şehir bazlı aylık gözlemler.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Aylık ortalama sıcaklık: avg_temp.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Koordinatlar N/S/E/W formatından sayısala çevrildi (Kuzey/Doğu +, Güney/Batı −).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Eksikler: sayısal sütunlarda medyan, kategoriklerde en sık değer; ölçekleme: RobustScaler.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Klimatoloji ve Anomali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Klimatoloji: her şehir için ay bazında uzun dönem ortalama sıcaklık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39496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= avg_temp − clim_temp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92240" y="1920240"/>
            <a:ext cx="4754880" cy="1097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anomali = 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(sadece klimatoloji)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698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hedefi, mevsimsellikten arındırılmış “sapma”yı (anomali) öğrenir.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Mutlak sıcaklık = klimatoloji + tahmin edilen anomali.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Mühendisliği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6984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Kategorikler: City, Country → one-hot encoding (yüksek boyut).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Konum: enlem (lat), boylam (lon).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Ayın döngüselliği: sin(month), cos(month).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Trend: 1970 sonrası yıl farkı.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Gecikmeli anomali: lag-1, lag-12, rolling-12 (son 12 ay ortalaması).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 Doğrulama Düzeni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6984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 Ridge Regression (α = 1.0) → yüksek boyutta düzenlileştirme ile genelleme.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Zaman sızıntısı önleme: Expanding window (5 fold) + zaman tabanlı holdout (ilk %80 eğitim, son %20 test).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Metrikler: MAE ve RMSE; ayrıca |anomali| ≥ 1°C için event </a:t>
            </a:r>
            <a:r>
              <a:rPr lang="en-US" sz="18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metrikleri</a:t>
            </a: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solidFill>
                <a:srgbClr val="111827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5CF043-6062-5E03-17A4-E2EC6A790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2438630"/>
            <a:ext cx="1032970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Neden Ağaç Tabanlı Modelleri Kullanmadık?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Benchmark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ve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yorumlanabilirlik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Klimatoloji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baseline’ı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zaten çok güçlü olduğu için, önce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Ridge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ile basit ve açıklanabilir bir “ek katkı” ölçmek hedeflendi.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Ölçek ve maliyet: 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City/Country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one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-hot sonrası özellik sayısı çok artıyor ve veri çok büyük; ağaç tabanlı modellerde eğitim süresi / bellek maliyeti belirgin yükseliyor.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Zaman serisi + gürültülü hedef (dikkat noktası)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Zaman serilerinde 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random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split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kolayca </a:t>
            </a:r>
            <a:r>
              <a:rPr kumimoji="0" lang="tr-TR" altLang="tr-TR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zaman sızıntısı 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yaratır; bu yüzden 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expanding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window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/ time-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based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holdout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kullanmak şart. Bu doğrulama düzeninde ağaç tabanlı modellerde 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overfit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riski ve 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hiperparametre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ayarı karmaşıklığı daha yüksek olabiliyor; anomali hedefi de gürültülü olduğu için </a:t>
            </a:r>
            <a:r>
              <a:rPr kumimoji="0" lang="tr-TR" altLang="tr-TR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Ridge</a:t>
            </a:r>
            <a:r>
              <a:rPr kumimoji="0" lang="tr-TR" altLang="tr-TR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daha stabil sonuç verdi.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Sonuç Özeti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Klimatoloji baseline’a göre Ridge + lag özellikleri MAE’de ~%4 iyileşme sağladı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3200400" cy="2011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0.9842 °C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=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200400" cy="2011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0.9441 °C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 lags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1737360"/>
            <a:ext cx="3200400" cy="2011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09244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İyileşme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2240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0.0401 °C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09244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%4.1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114800"/>
            <a:ext cx="10241280" cy="1645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Mutlak sıcaklık tahmini (klimatoloji + anomali): R² = 0.9821, MAE = 0.9441°C, RMSE = 1.3344°C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Test: Yıllara Göre MAE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çoğu yılda baseline’ın altında hata üretiyor</a:t>
            </a:r>
            <a:endParaRPr lang="en-US" sz="1800" dirty="0"/>
          </a:p>
        </p:txBody>
      </p:sp>
      <p:pic>
        <p:nvPicPr>
          <p:cNvPr id="5" name="Image 0" descr="/mnt/data/01_mae_by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710" y="1417320"/>
            <a:ext cx="7749540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417320"/>
            <a:ext cx="10607040" cy="5166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Holdout MAE by year (baseline vs Ridge + lags)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Holdout: Tahmin Kalitesi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Saçılım diyagonal çevresinde yoğun; hatalar 0 etrafında simetrik</a:t>
            </a:r>
            <a:endParaRPr lang="en-US" sz="1800" dirty="0"/>
          </a:p>
        </p:txBody>
      </p:sp>
      <p:pic>
        <p:nvPicPr>
          <p:cNvPr id="5" name="Image 0" descr="/mnt/data/02_actual_vs_pred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71700"/>
            <a:ext cx="54864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417320"/>
            <a:ext cx="5486400" cy="5166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Image 1" descr="/mnt/data/03_residual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24100"/>
            <a:ext cx="5029200" cy="3352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0" y="1417320"/>
            <a:ext cx="5029200" cy="5166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/>
          <p:nvPr/>
        </p:nvSpPr>
        <p:spPr>
          <a:xfrm>
            <a:off x="8229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Actual vs Predicted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Residual distribution (Pred − Actual)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 Örneği: Ankara (Holdout Dönemi)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bazı aylarda klimatoloji baseline’ını iyileştiriyor</a:t>
            </a:r>
            <a:endParaRPr lang="en-US" sz="1800" dirty="0"/>
          </a:p>
        </p:txBody>
      </p:sp>
      <p:pic>
        <p:nvPicPr>
          <p:cNvPr id="5" name="Image 0" descr="/mnt/data/04_Ankara_Turkey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710" y="1417320"/>
            <a:ext cx="7749540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417320"/>
            <a:ext cx="10607040" cy="5166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Ankara için gerçek sıcaklık, baseline ve model tahmini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Kümeleme (2010-07)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Amaç: 2010 Temmuz ayında şehirleri konum + sıcaklık benzerliklerine göre gruplamak.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Özellikler: enlem, boylam, avg_temp.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seçimi: elbow (inertia) ile k=3 → yorumlanabilir cold/mild/hot kümeleri.</a:t>
            </a:r>
            <a:endParaRPr lang="en-US" sz="1800" dirty="0"/>
          </a:p>
        </p:txBody>
      </p:sp>
      <p:pic>
        <p:nvPicPr>
          <p:cNvPr id="5" name="Image 0" descr="/mnt/data/15_elbow_2010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417320"/>
            <a:ext cx="438912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417320"/>
            <a:ext cx="466344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6766560" y="43708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Elbow method (inertia)</a:t>
            </a:r>
            <a:endParaRPr lang="en-US" sz="1200" dirty="0"/>
          </a:p>
        </p:txBody>
      </p:sp>
      <p:pic>
        <p:nvPicPr>
          <p:cNvPr id="8" name="Image 1" descr="/mnt/data/16_cluster_profile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99332"/>
            <a:ext cx="10607040" cy="255117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3749040"/>
            <a:ext cx="10607040" cy="2651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6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Özet: Küme profilleri (ortalama sıcaklık, konum, şehir sayısı)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 Sonuçları: Dağılım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 döneminde “hot” kümesi baskın; kümeler arası sıcaklık farkı belirgin</a:t>
            </a:r>
            <a:endParaRPr lang="en-US" sz="1800" dirty="0"/>
          </a:p>
        </p:txBody>
      </p:sp>
      <p:pic>
        <p:nvPicPr>
          <p:cNvPr id="5" name="Image 0" descr="/mnt/data/11_cluster_counts_2010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71700"/>
            <a:ext cx="54864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417320"/>
            <a:ext cx="5486400" cy="5166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Image 1" descr="/mnt/data/14_cluster_mean_temp_2010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24100"/>
            <a:ext cx="5029200" cy="3352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0" y="1417320"/>
            <a:ext cx="5029200" cy="5166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/>
          <p:nvPr/>
        </p:nvSpPr>
        <p:spPr>
          <a:xfrm>
            <a:off x="8229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City counts by cluster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Cluster mean temperature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 Sonuçları: Sıcaklık ve Mekânsal Örüntü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Kümeler enlem boyunca ayrışıyor; coğrafya–sıcaklık ilişkisi net</a:t>
            </a:r>
            <a:endParaRPr lang="en-US" sz="1800" dirty="0"/>
          </a:p>
        </p:txBody>
      </p:sp>
      <p:pic>
        <p:nvPicPr>
          <p:cNvPr id="5" name="Image 0" descr="/mnt/data/12_cluster_temp_boxplot_2010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71700"/>
            <a:ext cx="54864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417320"/>
            <a:ext cx="5486400" cy="5166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Image 1" descr="/mnt/data/13_cluster_latlon_scatter_2010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24100"/>
            <a:ext cx="5029200" cy="3352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0" y="1417320"/>
            <a:ext cx="5029200" cy="5166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/>
          <p:nvPr/>
        </p:nvSpPr>
        <p:spPr>
          <a:xfrm>
            <a:off x="8229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Avg temperature distribution by cluster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City locations by cluster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6984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Klimatoloji çok güçlü bir baseline → mutlak iyileşme küçük görünse de tutarlı.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Anomali hedefi gürültülü olduğu için R² düşük/negatif olabilir; MAE/RMSE ve baseline farkı daha anlamlı.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Gecikmeli anomali özellikleri (lag/rolling) tahmin gücünü artırıyor.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KMeans analizi, seçilen dönemde sıcaklık–coğrafya örüntülerini görünür kıldı.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ve Gelecek Çalışmalar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Şehir bazlı aylık sıcaklıklardan klimatoloji ile mevsimsellik ayrıştırıldı ve anomali üretildi.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Ridge + gecikmeli özellikler, holdout testte baseline’a göre MAE’de ~%4 iyileştirdi.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2010-07 KMeans: cold/mild/hot kümeleri anlamlı ve yorumlanabilir çıktı.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Çalışmalar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 gecikmeler (lag-3, lag-6, lag-24) ve farklı rolling pencereleri.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Mekânsal özellikler (komşu şehir anomalileri, bölgesel ortalamalar).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 tespiti için sınıflandırma + eşik optimizasyonu.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884</Words>
  <Application>Microsoft Macintosh PowerPoint</Application>
  <PresentationFormat>Geniş ekran</PresentationFormat>
  <Paragraphs>103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Veli Yılmaz</dc:creator>
  <cp:lastModifiedBy>Veli YILMAZ</cp:lastModifiedBy>
  <cp:revision>2</cp:revision>
  <dcterms:created xsi:type="dcterms:W3CDTF">2025-12-23T13:54:14Z</dcterms:created>
  <dcterms:modified xsi:type="dcterms:W3CDTF">2025-12-24T16:53:20Z</dcterms:modified>
</cp:coreProperties>
</file>